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Catamaran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Fira Sans Extra Condensed Medium"/>
      <p:regular r:id="rId33"/>
      <p:bold r:id="rId34"/>
      <p:italic r:id="rId35"/>
      <p:boldItalic r:id="rId36"/>
    </p:embeddedFont>
    <p:embeddedFont>
      <p:font typeface="Livvic"/>
      <p:regular r:id="rId37"/>
      <p:bold r:id="rId38"/>
      <p:italic r:id="rId39"/>
      <p:boldItalic r:id="rId40"/>
    </p:embeddedFont>
    <p:embeddedFont>
      <p:font typeface="Catamaran Light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vvic-boldItalic.fntdata"/><Relationship Id="rId20" Type="http://schemas.openxmlformats.org/officeDocument/2006/relationships/slide" Target="slides/slide15.xml"/><Relationship Id="rId42" Type="http://schemas.openxmlformats.org/officeDocument/2006/relationships/font" Target="fonts/CatamaranLight-bold.fntdata"/><Relationship Id="rId41" Type="http://schemas.openxmlformats.org/officeDocument/2006/relationships/font" Target="fonts/CatamaranLight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atamaran-bold.fntdata"/><Relationship Id="rId27" Type="http://schemas.openxmlformats.org/officeDocument/2006/relationships/font" Target="fonts/Catamara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Medium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FiraSansExtraCondensedMedium-italic.fntdata"/><Relationship Id="rId12" Type="http://schemas.openxmlformats.org/officeDocument/2006/relationships/slide" Target="slides/slide7.xml"/><Relationship Id="rId34" Type="http://schemas.openxmlformats.org/officeDocument/2006/relationships/font" Target="fonts/FiraSansExtraCondensedMedium-bold.fntdata"/><Relationship Id="rId15" Type="http://schemas.openxmlformats.org/officeDocument/2006/relationships/slide" Target="slides/slide10.xml"/><Relationship Id="rId37" Type="http://schemas.openxmlformats.org/officeDocument/2006/relationships/font" Target="fonts/Livvic-regular.fntdata"/><Relationship Id="rId14" Type="http://schemas.openxmlformats.org/officeDocument/2006/relationships/slide" Target="slides/slide9.xml"/><Relationship Id="rId36" Type="http://schemas.openxmlformats.org/officeDocument/2006/relationships/font" Target="fonts/FiraSansExtraCondensed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Livvic-italic.fntdata"/><Relationship Id="rId16" Type="http://schemas.openxmlformats.org/officeDocument/2006/relationships/slide" Target="slides/slide11.xml"/><Relationship Id="rId38" Type="http://schemas.openxmlformats.org/officeDocument/2006/relationships/font" Target="fonts/Livvic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f12a7d48e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f12a7d48e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f12a7d48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af12a7d4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b5f3c23e6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b5f3c23e6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5f3c23e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b5f3c23e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5f3c23e6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5f3c23e6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5f3c23e6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5f3c23e6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5f3c23e6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5f3c23e6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5f3c23e6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5f3c23e6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5f3c23e6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5f3c23e6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5f3c23e6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5f3c23e6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5f3c23e6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5f3c23e6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b5f3c23e6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b5f3c23e6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b5f3c23e6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b5f3c23e6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5f3c23e6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5f3c23e6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b5f3c23e6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b5f3c23e6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5f3c23e6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5f3c23e6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5f3c23e6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b5f3c23e6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5f3c23e6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b5f3c23e6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b5f3c23e6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b5f3c23e6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af12a7d48e_0_1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af12a7d48e_0_1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3" type="ctrTitle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3"/>
          <p:cNvSpPr txBox="1"/>
          <p:nvPr>
            <p:ph idx="4" type="subTitle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5" type="title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6" type="ctrTitle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3"/>
          <p:cNvSpPr txBox="1"/>
          <p:nvPr>
            <p:ph idx="7" type="subTitle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8" type="title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9" type="ctrTitle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" name="Google Shape;22;p3"/>
          <p:cNvSpPr txBox="1"/>
          <p:nvPr>
            <p:ph idx="13" type="ctrTitle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14" type="subTitle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15" type="title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6" type="ctrTitle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" name="Google Shape;26;p3"/>
          <p:cNvSpPr txBox="1"/>
          <p:nvPr>
            <p:ph idx="17" type="subTitle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18" type="title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1">
  <p:cSld name="CUSTOM_27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" name="Google Shape;34;p5"/>
          <p:cNvSpPr txBox="1"/>
          <p:nvPr>
            <p:ph idx="2" type="ctrTitle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5"/>
          <p:cNvSpPr txBox="1"/>
          <p:nvPr>
            <p:ph idx="4" type="ctrTitle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5" type="subTitle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5"/>
          <p:cNvSpPr txBox="1"/>
          <p:nvPr>
            <p:ph idx="6" type="ctrTitle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5"/>
          <p:cNvSpPr txBox="1"/>
          <p:nvPr>
            <p:ph idx="7" type="ctrTitle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" name="Google Shape;40;p5"/>
          <p:cNvSpPr txBox="1"/>
          <p:nvPr>
            <p:ph idx="8" type="subTitle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CUSTOM_27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ctrTitle"/>
          </p:nvPr>
        </p:nvSpPr>
        <p:spPr>
          <a:xfrm>
            <a:off x="4921575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4921575" y="3553810"/>
            <a:ext cx="1522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" name="Google Shape;44;p6"/>
          <p:cNvSpPr txBox="1"/>
          <p:nvPr>
            <p:ph idx="2" type="ctrTitle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6"/>
          <p:cNvSpPr txBox="1"/>
          <p:nvPr>
            <p:ph idx="4" type="ctrTitle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6"/>
          <p:cNvSpPr txBox="1"/>
          <p:nvPr>
            <p:ph idx="5" type="ctrTitle"/>
          </p:nvPr>
        </p:nvSpPr>
        <p:spPr>
          <a:xfrm>
            <a:off x="2928557" y="2993035"/>
            <a:ext cx="17988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6" type="subTitle"/>
          </p:nvPr>
        </p:nvSpPr>
        <p:spPr>
          <a:xfrm>
            <a:off x="2928550" y="3553810"/>
            <a:ext cx="1476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14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8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16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16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idx="1" type="subTitle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35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CUSTOM_38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12"/>
          <p:cNvSpPr txBox="1"/>
          <p:nvPr>
            <p:ph hasCustomPrompt="1"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30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2" type="ctrTitle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3"/>
          <p:cNvSpPr txBox="1"/>
          <p:nvPr>
            <p:ph idx="3" type="subTitle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3"/>
          <p:cNvSpPr txBox="1"/>
          <p:nvPr>
            <p:ph idx="4" type="ctrTitle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" name="Google Shape;72;p13"/>
          <p:cNvSpPr txBox="1"/>
          <p:nvPr>
            <p:ph idx="5" type="subTitle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3"/>
          <p:cNvSpPr txBox="1"/>
          <p:nvPr>
            <p:ph idx="6" type="ctrTitle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3"/>
          <p:cNvSpPr txBox="1"/>
          <p:nvPr>
            <p:ph idx="7" type="ctrTitle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" name="Google Shape;75;p13"/>
          <p:cNvSpPr txBox="1"/>
          <p:nvPr>
            <p:ph idx="8" type="subTitle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3"/>
          <p:cNvSpPr txBox="1"/>
          <p:nvPr>
            <p:ph idx="9" type="ctrTitle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" name="Google Shape;77;p13"/>
          <p:cNvSpPr txBox="1"/>
          <p:nvPr>
            <p:ph idx="13" type="subTitle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3"/>
          <p:cNvSpPr txBox="1"/>
          <p:nvPr>
            <p:ph idx="14" type="ctrTitle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13"/>
          <p:cNvSpPr txBox="1"/>
          <p:nvPr>
            <p:ph idx="15" type="subTitle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3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1">
  <p:cSld name="CUSTOM_2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5"/>
          <p:cNvSpPr txBox="1"/>
          <p:nvPr>
            <p:ph idx="2" type="subTitle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5"/>
          <p:cNvSpPr txBox="1"/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15"/>
          <p:cNvSpPr txBox="1"/>
          <p:nvPr>
            <p:ph idx="3" type="ctrTitle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15"/>
          <p:cNvSpPr txBox="1"/>
          <p:nvPr>
            <p:ph idx="4" type="ctrTitle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1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5">
  <p:cSld name="CUSTOM_3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4">
  <p:cSld name="CUSTOM_3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idx="1" type="subTitle"/>
          </p:nvPr>
        </p:nvSpPr>
        <p:spPr>
          <a:xfrm flipH="1">
            <a:off x="840600" y="2432150"/>
            <a:ext cx="1650300" cy="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2" type="subTitle"/>
          </p:nvPr>
        </p:nvSpPr>
        <p:spPr>
          <a:xfrm>
            <a:off x="4702174" y="1049093"/>
            <a:ext cx="1960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-533400" y="2047350"/>
            <a:ext cx="3024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p17"/>
          <p:cNvSpPr txBox="1"/>
          <p:nvPr>
            <p:ph idx="3" type="ctrTitle"/>
          </p:nvPr>
        </p:nvSpPr>
        <p:spPr>
          <a:xfrm>
            <a:off x="4702174" y="664293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17"/>
          <p:cNvSpPr txBox="1"/>
          <p:nvPr>
            <p:ph idx="4" type="subTitle"/>
          </p:nvPr>
        </p:nvSpPr>
        <p:spPr>
          <a:xfrm>
            <a:off x="4702174" y="3788925"/>
            <a:ext cx="2214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5" type="ctrTitle"/>
          </p:nvPr>
        </p:nvSpPr>
        <p:spPr>
          <a:xfrm>
            <a:off x="4702174" y="3389725"/>
            <a:ext cx="24756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7"/>
          <p:cNvSpPr txBox="1"/>
          <p:nvPr>
            <p:ph idx="6"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1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2">
  <p:cSld name="CUSTOM_3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1579064" y="2147200"/>
            <a:ext cx="16266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2" type="ctrTitle"/>
          </p:nvPr>
        </p:nvSpPr>
        <p:spPr>
          <a:xfrm>
            <a:off x="1579064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8"/>
          <p:cNvSpPr txBox="1"/>
          <p:nvPr>
            <p:ph idx="3" type="subTitle"/>
          </p:nvPr>
        </p:nvSpPr>
        <p:spPr>
          <a:xfrm>
            <a:off x="4068269" y="2147200"/>
            <a:ext cx="16266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4" type="ctrTitle"/>
          </p:nvPr>
        </p:nvSpPr>
        <p:spPr>
          <a:xfrm>
            <a:off x="3075567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6">
  <p:cSld name="CUSTOM_11_1_2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CUSTOM_2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CUSTOM_2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642050" y="1277550"/>
            <a:ext cx="53082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subTitle"/>
          </p:nvPr>
        </p:nvSpPr>
        <p:spPr>
          <a:xfrm>
            <a:off x="642050" y="540000"/>
            <a:ext cx="46554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>
                <a:solidFill>
                  <a:srgbClr val="EFEFEF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>
                <a:solidFill>
                  <a:srgbClr val="EFEFEF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>
                <a:solidFill>
                  <a:srgbClr val="EFEFEF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>
                <a:solidFill>
                  <a:srgbClr val="EFEFEF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sz="28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ctrTitle"/>
          </p:nvPr>
        </p:nvSpPr>
        <p:spPr>
          <a:xfrm>
            <a:off x="0" y="322225"/>
            <a:ext cx="9113700" cy="25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tamaran"/>
                <a:ea typeface="Catamaran"/>
                <a:cs typeface="Catamaran"/>
                <a:sym typeface="Catamaran"/>
              </a:rPr>
              <a:t>Calculation for Neutron </a:t>
            </a:r>
            <a:r>
              <a:rPr lang="en" sz="3000">
                <a:solidFill>
                  <a:srgbClr val="374151"/>
                </a:solidFill>
                <a:latin typeface="Catamaran"/>
                <a:ea typeface="Catamaran"/>
                <a:cs typeface="Catamaran"/>
                <a:sym typeface="Catamaran"/>
              </a:rPr>
              <a:t>Reflectometry</a:t>
            </a:r>
            <a:endParaRPr sz="30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28" name="Google Shape;128;p24"/>
          <p:cNvSpPr txBox="1"/>
          <p:nvPr>
            <p:ph idx="1" type="subTitle"/>
          </p:nvPr>
        </p:nvSpPr>
        <p:spPr>
          <a:xfrm>
            <a:off x="311700" y="2834125"/>
            <a:ext cx="8043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 Data </a:t>
            </a:r>
            <a:r>
              <a:rPr b="1" lang="en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r>
              <a:rPr b="1" lang="en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r>
              <a:rPr b="1" lang="en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combine with multiple tools and </a:t>
            </a:r>
            <a:r>
              <a:rPr b="1" lang="en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parratt_algorithm </a:t>
            </a:r>
            <a:endParaRPr b="1" sz="1800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965100" y="3761675"/>
            <a:ext cx="37725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1616"/>
                </a:solidFill>
              </a:rPr>
              <a:t>Jie Zhang</a:t>
            </a:r>
            <a:endParaRPr sz="1200">
              <a:solidFill>
                <a:srgbClr val="1616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616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61616"/>
                </a:solidFill>
              </a:rPr>
              <a:t>Feb 2024</a:t>
            </a:r>
            <a:endParaRPr sz="1200">
              <a:solidFill>
                <a:srgbClr val="1616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616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2424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825"/>
            <a:ext cx="4430650" cy="11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9" type="ctrTitle"/>
          </p:nvPr>
        </p:nvSpPr>
        <p:spPr>
          <a:xfrm rot="5400000">
            <a:off x="6807153" y="1511875"/>
            <a:ext cx="2913300" cy="75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CONTENTS</a:t>
            </a:r>
            <a:endParaRPr sz="2400"/>
          </a:p>
        </p:txBody>
      </p:sp>
      <p:sp>
        <p:nvSpPr>
          <p:cNvPr id="136" name="Google Shape;136;p25"/>
          <p:cNvSpPr/>
          <p:nvPr/>
        </p:nvSpPr>
        <p:spPr>
          <a:xfrm flipH="1" rot="-5400000">
            <a:off x="-957850" y="957900"/>
            <a:ext cx="5140800" cy="32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>
            <p:ph idx="7" type="subTitle"/>
          </p:nvPr>
        </p:nvSpPr>
        <p:spPr>
          <a:xfrm>
            <a:off x="3428000" y="2475200"/>
            <a:ext cx="46293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atamaran"/>
              <a:buChar char="●"/>
            </a:pPr>
            <a:r>
              <a:rPr b="1" lang="en" sz="105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Parratt Algorithm</a:t>
            </a:r>
            <a:endParaRPr b="1" sz="105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atamaran"/>
              <a:buChar char="●"/>
            </a:pPr>
            <a:r>
              <a:rPr b="1" lang="en" sz="105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Neutron Reflectivity using Matrix Formalism</a:t>
            </a:r>
            <a:endParaRPr b="1">
              <a:solidFill>
                <a:schemeClr val="accen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8" name="Google Shape;138;p25"/>
          <p:cNvSpPr txBox="1"/>
          <p:nvPr>
            <p:ph idx="6" type="ctrTitle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NR CALCULATION</a:t>
            </a:r>
            <a:endParaRPr/>
          </a:p>
        </p:txBody>
      </p:sp>
      <p:sp>
        <p:nvSpPr>
          <p:cNvPr id="139" name="Google Shape;139;p25"/>
          <p:cNvSpPr txBox="1"/>
          <p:nvPr>
            <p:ph idx="8" type="title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25"/>
          <p:cNvSpPr txBox="1"/>
          <p:nvPr>
            <p:ph type="ctrTitle"/>
          </p:nvPr>
        </p:nvSpPr>
        <p:spPr>
          <a:xfrm>
            <a:off x="3423899" y="387475"/>
            <a:ext cx="3066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OPEN SOURCE FITTING</a:t>
            </a:r>
            <a:endParaRPr/>
          </a:p>
        </p:txBody>
      </p:sp>
      <p:sp>
        <p:nvSpPr>
          <p:cNvPr id="141" name="Google Shape;141;p25"/>
          <p:cNvSpPr txBox="1"/>
          <p:nvPr>
            <p:ph idx="2" type="title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5"/>
          <p:cNvSpPr txBox="1"/>
          <p:nvPr>
            <p:ph idx="3" type="ctrTitle"/>
          </p:nvPr>
        </p:nvSpPr>
        <p:spPr>
          <a:xfrm>
            <a:off x="3425279" y="1224275"/>
            <a:ext cx="3066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FIVE DAYS DATA EXPLORATION</a:t>
            </a:r>
            <a:endParaRPr/>
          </a:p>
        </p:txBody>
      </p:sp>
      <p:sp>
        <p:nvSpPr>
          <p:cNvPr id="143" name="Google Shape;143;p25"/>
          <p:cNvSpPr txBox="1"/>
          <p:nvPr>
            <p:ph idx="5" type="title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" name="Google Shape;144;p25"/>
          <p:cNvSpPr txBox="1"/>
          <p:nvPr>
            <p:ph idx="13" type="ctrTitle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 </a:t>
            </a:r>
            <a:r>
              <a:rPr lang="en"/>
              <a:t>COMPARISON</a:t>
            </a:r>
            <a:endParaRPr/>
          </a:p>
        </p:txBody>
      </p:sp>
      <p:sp>
        <p:nvSpPr>
          <p:cNvPr id="145" name="Google Shape;145;p25"/>
          <p:cNvSpPr txBox="1"/>
          <p:nvPr>
            <p:ph idx="14" type="subTitle"/>
          </p:nvPr>
        </p:nvSpPr>
        <p:spPr>
          <a:xfrm>
            <a:off x="3428000" y="3422675"/>
            <a:ext cx="33270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Open Source::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Refl1d, BornAgain, R</a:t>
            </a:r>
            <a:r>
              <a:rPr lang="en"/>
              <a:t>efnx</a:t>
            </a:r>
            <a:r>
              <a:rPr lang="en"/>
              <a:t>, Motofit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>
            <p:ph idx="15" type="title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" name="Google Shape;147;p25"/>
          <p:cNvSpPr txBox="1"/>
          <p:nvPr>
            <p:ph idx="16" type="ctrTitle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</a:t>
            </a:r>
            <a:r>
              <a:rPr lang="en"/>
              <a:t>POSSIBLE</a:t>
            </a:r>
            <a:r>
              <a:rPr lang="en"/>
              <a:t> APPROACH</a:t>
            </a:r>
            <a:endParaRPr/>
          </a:p>
        </p:txBody>
      </p:sp>
      <p:sp>
        <p:nvSpPr>
          <p:cNvPr id="148" name="Google Shape;148;p25"/>
          <p:cNvSpPr txBox="1"/>
          <p:nvPr>
            <p:ph idx="17" type="subTitle"/>
          </p:nvPr>
        </p:nvSpPr>
        <p:spPr>
          <a:xfrm>
            <a:off x="3428000" y="4205300"/>
            <a:ext cx="3000000" cy="8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000"/>
              <a:buFont typeface="Catamaran"/>
              <a:buChar char="●"/>
            </a:pPr>
            <a:r>
              <a:rPr b="1" lang="en">
                <a:solidFill>
                  <a:srgbClr val="0F0F0F"/>
                </a:solidFill>
                <a:latin typeface="Catamaran"/>
                <a:ea typeface="Catamaran"/>
                <a:cs typeface="Catamaran"/>
                <a:sym typeface="Catamaran"/>
              </a:rPr>
              <a:t>3D generation based the parameters and dataset(images)</a:t>
            </a:r>
            <a:endParaRPr b="1">
              <a:solidFill>
                <a:srgbClr val="0F0F0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000"/>
              <a:buFont typeface="Catamaran"/>
              <a:buChar char="●"/>
            </a:pPr>
            <a:r>
              <a:rPr b="1" lang="en">
                <a:solidFill>
                  <a:srgbClr val="0F0F0F"/>
                </a:solidFill>
                <a:latin typeface="Catamaran"/>
                <a:ea typeface="Catamaran"/>
                <a:cs typeface="Catamaran"/>
                <a:sym typeface="Catamaran"/>
              </a:rPr>
              <a:t>Machine Learning based on Matrix Formalism. </a:t>
            </a:r>
            <a:endParaRPr b="1">
              <a:solidFill>
                <a:srgbClr val="0F0F0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9" name="Google Shape;149;p25"/>
          <p:cNvSpPr txBox="1"/>
          <p:nvPr>
            <p:ph idx="18" type="title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" y="0"/>
            <a:ext cx="1882442" cy="17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3384063" y="1756300"/>
            <a:ext cx="3000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050"/>
              <a:buFont typeface="Courier New"/>
              <a:buChar char="●"/>
            </a:pPr>
            <a:r>
              <a:rPr b="1" lang="en" sz="1050">
                <a:solidFill>
                  <a:srgbClr val="0F0F0F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b="1" lang="en" sz="1050">
                <a:solidFill>
                  <a:srgbClr val="0F0F0F"/>
                </a:solidFill>
                <a:latin typeface="Courier New"/>
                <a:ea typeface="Courier New"/>
                <a:cs typeface="Courier New"/>
                <a:sym typeface="Courier New"/>
              </a:rPr>
              <a:t>visualization</a:t>
            </a:r>
            <a:endParaRPr b="1" sz="1050">
              <a:solidFill>
                <a:srgbClr val="0F0F0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050"/>
              <a:buFont typeface="Courier New"/>
              <a:buChar char="●"/>
            </a:pPr>
            <a:r>
              <a:rPr b="1" lang="en" sz="1050">
                <a:solidFill>
                  <a:srgbClr val="0F0F0F"/>
                </a:solidFill>
                <a:latin typeface="Courier New"/>
                <a:ea typeface="Courier New"/>
                <a:cs typeface="Courier New"/>
                <a:sym typeface="Courier New"/>
              </a:rPr>
              <a:t>Pre-processing</a:t>
            </a:r>
            <a:endParaRPr b="1" sz="1050">
              <a:solidFill>
                <a:srgbClr val="0F0F0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3000"/>
              <a:t>About the open source fitting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430475" y="1777050"/>
            <a:ext cx="42825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Tools: </a:t>
            </a:r>
            <a:endParaRPr sz="2400">
              <a:solidFill>
                <a:srgbClr val="0F0F0F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BornAgain</a:t>
            </a:r>
            <a:endParaRPr sz="2400">
              <a:solidFill>
                <a:srgbClr val="0F0F0F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Refl1D</a:t>
            </a:r>
            <a:endParaRPr sz="2400">
              <a:solidFill>
                <a:srgbClr val="0F0F0F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Motofit</a:t>
            </a:r>
            <a:endParaRPr sz="2400">
              <a:solidFill>
                <a:srgbClr val="0F0F0F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Refnx</a:t>
            </a:r>
            <a:endParaRPr sz="2400">
              <a:solidFill>
                <a:srgbClr val="0F0F0F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 </a:t>
            </a:r>
            <a:r>
              <a:rPr lang="en"/>
              <a:t>day 2</a:t>
            </a:r>
            <a:r>
              <a:rPr lang="en"/>
              <a:t> dataset with refl1d and refnx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refnx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675" y="1644600"/>
            <a:ext cx="3525075" cy="31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/>
        </p:nvSpPr>
        <p:spPr>
          <a:xfrm>
            <a:off x="5275950" y="1127013"/>
            <a:ext cx="1434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refl1d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75" y="1788075"/>
            <a:ext cx="4205300" cy="302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Five days specular data exploration</a:t>
            </a:r>
            <a:endParaRPr sz="3000"/>
          </a:p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629150" y="1920525"/>
            <a:ext cx="69426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Data exploration: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Q_data.describe()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R_data.describe()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data.hist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# Scatter plot to visualize the relationship between Q_data and R_data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# Calculate the likelihood for Q and R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0F0F"/>
                </a:solidFill>
              </a:rPr>
              <a:t># Calculate the PCA for Q and R</a:t>
            </a:r>
            <a:endParaRPr b="1" sz="12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12" y="0"/>
            <a:ext cx="3632626" cy="217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21" y="0"/>
            <a:ext cx="3687610" cy="21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035" y="0"/>
            <a:ext cx="3349980" cy="217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00" y="0"/>
            <a:ext cx="3912851" cy="217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5024" y="0"/>
            <a:ext cx="3782003" cy="21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3687600" cy="241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200" y="2571750"/>
            <a:ext cx="4227401" cy="23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8800" y="0"/>
            <a:ext cx="4029551" cy="24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165575"/>
            <a:ext cx="85206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Heatmap for Q and R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ormalization                    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         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value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74" y="1368650"/>
            <a:ext cx="4603901" cy="37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00" y="1368650"/>
            <a:ext cx="4689850" cy="377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6250" y="1368650"/>
            <a:ext cx="4099149" cy="377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701"/>
            <a:ext cx="9144003" cy="4496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/>
        </p:nvSpPr>
        <p:spPr>
          <a:xfrm>
            <a:off x="187650" y="55200"/>
            <a:ext cx="14901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194430</a:t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 after fitting- use day1 as the demo</a:t>
            </a:r>
            <a:endParaRPr/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layers_number =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6</a:t>
            </a:r>
            <a:endParaRPr sz="1050">
              <a:solidFill>
                <a:srgbClr val="116644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layers = [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   {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"thickness"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62.189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"SLD"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0.85516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"solvent"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"roughness"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43.155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},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   {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"thickness"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51.655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"SLD"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1.501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"solvent"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"roughness"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19.669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},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   {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"thickness"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91.232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"SLD"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3.0246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"solvent"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"roughness"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20.147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},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   {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"thickness"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239.91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"SLD"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3.1034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"solvent"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"roughness"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37.707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},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   {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"thickness"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8.717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"SLD"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3.734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"solvent"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"roughness"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2.2571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},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   {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"thickness"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10.085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"SLD"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3.47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"solvent"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0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"roughness"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050">
                <a:solidFill>
                  <a:srgbClr val="116644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1.108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}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Catamaran"/>
                <a:ea typeface="Catamaran"/>
                <a:cs typeface="Catamaran"/>
                <a:sym typeface="Catamaran"/>
              </a:rPr>
              <a:t>]</a:t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five days fitting parameters 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200" y="1017725"/>
            <a:ext cx="2704199" cy="224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375" y="3004250"/>
            <a:ext cx="2706626" cy="203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975" y="1017726"/>
            <a:ext cx="2706624" cy="203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6325" y="2976200"/>
            <a:ext cx="2706627" cy="214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05" y="2737325"/>
            <a:ext cx="2976288" cy="240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397" y="2737325"/>
            <a:ext cx="2559910" cy="240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15450"/>
            <a:ext cx="4161150" cy="412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925" y="640175"/>
            <a:ext cx="4094950" cy="45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00" y="1335550"/>
            <a:ext cx="6898549" cy="380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311700" y="445025"/>
            <a:ext cx="85206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F0F0F"/>
                </a:solidFill>
              </a:rPr>
              <a:t>Neutron Reflectivity</a:t>
            </a:r>
            <a:r>
              <a:rPr lang="en" sz="3000">
                <a:solidFill>
                  <a:srgbClr val="0F0F0F"/>
                </a:solidFill>
              </a:rPr>
              <a:t> calculation</a:t>
            </a:r>
            <a:endParaRPr sz="3000">
              <a:solidFill>
                <a:srgbClr val="0F0F0F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6"/>
          <p:cNvSpPr txBox="1"/>
          <p:nvPr/>
        </p:nvSpPr>
        <p:spPr>
          <a:xfrm>
            <a:off x="463575" y="1644600"/>
            <a:ext cx="79911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 refl1d and </a:t>
            </a:r>
            <a:r>
              <a:rPr lang="en" sz="1800">
                <a:solidFill>
                  <a:schemeClr val="dk1"/>
                </a:solidFill>
              </a:rPr>
              <a:t>refnx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Diff: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refnx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74151"/>
                </a:solidFill>
              </a:rPr>
              <a:t>Utilizes an object-oriented approach where layers and structures are defined as Python objects. Construction of models by stacking different Layer objects to build a Structure.</a:t>
            </a:r>
            <a:endParaRPr sz="1800">
              <a:solidFill>
                <a:srgbClr val="37415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refl1d: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74151"/>
                </a:solidFill>
              </a:rPr>
              <a:t>focus on providing more built-in models for specific types of interfaces and layers, including fractal and rough interfaces.</a:t>
            </a:r>
            <a:endParaRPr sz="18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09" y="0"/>
            <a:ext cx="872498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64" y="0"/>
            <a:ext cx="74030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0" y="1280350"/>
            <a:ext cx="4713025" cy="386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775" y="1346575"/>
            <a:ext cx="5215574" cy="3863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9"/>
          <p:cNvSpPr txBox="1"/>
          <p:nvPr/>
        </p:nvSpPr>
        <p:spPr>
          <a:xfrm>
            <a:off x="573950" y="375275"/>
            <a:ext cx="19755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F0F0F"/>
                </a:solidFill>
                <a:highlight>
                  <a:srgbClr val="F7F7F7"/>
                </a:highlight>
                <a:latin typeface="Catamaran"/>
                <a:ea typeface="Catamaran"/>
                <a:cs typeface="Catamaran"/>
                <a:sym typeface="Catamaran"/>
              </a:rPr>
              <a:t>refl1d</a:t>
            </a:r>
            <a:endParaRPr b="1" sz="1050">
              <a:solidFill>
                <a:srgbClr val="0F0F0F"/>
              </a:solidFill>
              <a:highlight>
                <a:srgbClr val="F7F7F7"/>
              </a:highlight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5439400" y="430475"/>
            <a:ext cx="15783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F0F0F"/>
                </a:solidFill>
                <a:latin typeface="Courier New"/>
                <a:ea typeface="Courier New"/>
                <a:cs typeface="Courier New"/>
                <a:sym typeface="Courier New"/>
              </a:rPr>
              <a:t>refnx</a:t>
            </a:r>
            <a:endParaRPr b="1" sz="1050">
              <a:solidFill>
                <a:srgbClr val="0F0F0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1777050" y="121425"/>
            <a:ext cx="18873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Which one is better?</a:t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863" y="0"/>
            <a:ext cx="76042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35" y="0"/>
            <a:ext cx="784993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300" y="1788075"/>
            <a:ext cx="3954450" cy="359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025" y="1545250"/>
            <a:ext cx="3908827" cy="3598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2"/>
          <p:cNvSpPr txBox="1"/>
          <p:nvPr/>
        </p:nvSpPr>
        <p:spPr>
          <a:xfrm>
            <a:off x="474625" y="518775"/>
            <a:ext cx="25827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Parratt algorithm</a:t>
            </a:r>
            <a:endParaRPr b="1" sz="1800">
              <a:solidFill>
                <a:srgbClr val="795E2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82" name="Google Shape;282;p42"/>
          <p:cNvSpPr txBox="1"/>
          <p:nvPr/>
        </p:nvSpPr>
        <p:spPr>
          <a:xfrm>
            <a:off x="4911700" y="209725"/>
            <a:ext cx="2814600" cy="1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0F0F"/>
                </a:solidFill>
                <a:latin typeface="Courier New"/>
                <a:ea typeface="Courier New"/>
                <a:cs typeface="Courier New"/>
                <a:sym typeface="Courier New"/>
              </a:rPr>
              <a:t>Calculate neutron reflectivity using an enhanced Parratt recursive formalism</a:t>
            </a:r>
            <a:endParaRPr b="1">
              <a:solidFill>
                <a:srgbClr val="0F0F0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311700" y="445025"/>
            <a:ext cx="85206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Two possible approaches in further research</a:t>
            </a:r>
            <a:endParaRPr sz="3000"/>
          </a:p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3"/>
          <p:cNvSpPr txBox="1"/>
          <p:nvPr/>
        </p:nvSpPr>
        <p:spPr>
          <a:xfrm>
            <a:off x="706400" y="1434875"/>
            <a:ext cx="7571700" cy="30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3D generation for underlayer structure(more data, 2d or images)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Use </a:t>
            </a:r>
            <a:r>
              <a:rPr lang="en" sz="2400">
                <a:solidFill>
                  <a:schemeClr val="dk1"/>
                </a:solidFill>
              </a:rPr>
              <a:t>traditional</a:t>
            </a:r>
            <a:r>
              <a:rPr lang="en" sz="2400">
                <a:solidFill>
                  <a:schemeClr val="dk1"/>
                </a:solidFill>
              </a:rPr>
              <a:t> matix based to do the machine learning(CNN, RNN, LLM)</a:t>
            </a:r>
            <a:r>
              <a:rPr lang="en" sz="2400">
                <a:solidFill>
                  <a:schemeClr val="dk1"/>
                </a:solidFill>
              </a:rPr>
              <a:t>approach</a:t>
            </a:r>
            <a:r>
              <a:rPr lang="en" sz="2400">
                <a:solidFill>
                  <a:schemeClr val="dk1"/>
                </a:solidFill>
              </a:rPr>
              <a:t> the prediction for underlayer structure.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/>
          <p:nvPr/>
        </p:nvSpPr>
        <p:spPr>
          <a:xfrm rot="5400000">
            <a:off x="1406950" y="693175"/>
            <a:ext cx="3358800" cy="50265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4"/>
          <p:cNvSpPr txBox="1"/>
          <p:nvPr>
            <p:ph idx="1" type="subTitle"/>
          </p:nvPr>
        </p:nvSpPr>
        <p:spPr>
          <a:xfrm>
            <a:off x="831200" y="2314225"/>
            <a:ext cx="31497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Does anyone have any questions?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Follow the project updates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m.fuentes-cabrera@northeastern.edu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4"/>
          <p:cNvSpPr txBox="1"/>
          <p:nvPr>
            <p:ph type="ctrTitle"/>
          </p:nvPr>
        </p:nvSpPr>
        <p:spPr>
          <a:xfrm>
            <a:off x="831200" y="376500"/>
            <a:ext cx="26073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THANKS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0" y="0"/>
            <a:ext cx="36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000"/>
            <a:ext cx="3619199" cy="1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4"/>
          <p:cNvSpPr txBox="1"/>
          <p:nvPr/>
        </p:nvSpPr>
        <p:spPr>
          <a:xfrm>
            <a:off x="3973525" y="253875"/>
            <a:ext cx="48786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Catamaran"/>
                <a:ea typeface="Catamaran"/>
                <a:cs typeface="Catamaran"/>
                <a:sym typeface="Catamaran"/>
              </a:rPr>
              <a:t>Github: https://github.com/JieUpup/day1-Neutron-reflectometry</a:t>
            </a:r>
            <a:endParaRPr b="1">
              <a:solidFill>
                <a:srgbClr val="98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908269"/>
      </a:accent1>
      <a:accent2>
        <a:srgbClr val="212121"/>
      </a:accent2>
      <a:accent3>
        <a:srgbClr val="CFC3AC"/>
      </a:accent3>
      <a:accent4>
        <a:srgbClr val="976E26"/>
      </a:accent4>
      <a:accent5>
        <a:srgbClr val="927D59"/>
      </a:accent5>
      <a:accent6>
        <a:srgbClr val="584F3E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